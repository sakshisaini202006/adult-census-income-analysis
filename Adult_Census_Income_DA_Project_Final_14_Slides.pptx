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5" r:id="rId11"/>
    <p:sldId id="264" r:id="rId12"/>
    <p:sldId id="267" r:id="rId13"/>
    <p:sldId id="268" r:id="rId14"/>
    <p:sldId id="269" r:id="rId15"/>
  </p:sldIdLst>
  <p:sldSz cx="9144000" cy="5143500" type="screen16x9"/>
  <p:notesSz cx="5143500" cy="9144000"/>
  <p:embeddedFontLst>
    <p:embeddedFont>
      <p:font typeface="Open Sans Bold" panose="020B0604020202020204" charset="0"/>
      <p:regular r:id="rId17"/>
    </p:embeddedFont>
    <p:embeddedFont>
      <p:font typeface="Merriweather Bold" panose="020B0604020202020204" charset="0"/>
      <p:regular r:id="rId18"/>
    </p:embeddedFont>
    <p:embeddedFont>
      <p:font typeface="Open Sans" panose="020B0604020202020204" charset="0"/>
      <p:regular r:id="rId19"/>
    </p:embeddedFont>
    <p:embeddedFont>
      <p:font typeface="Calibri Light" panose="020F0302020204030204" pitchFamily="34" charset="0"/>
      <p:regular r:id="rId20"/>
      <p: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onsolas" panose="020B0609020204030204" pitchFamily="49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/>
              <a:t>Number of people by workclass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people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Private</c:v>
                </c:pt>
                <c:pt idx="1">
                  <c:v>Self-emp-not-inc</c:v>
                </c:pt>
                <c:pt idx="2">
                  <c:v>Local-gov</c:v>
                </c:pt>
                <c:pt idx="3">
                  <c:v>State-gov</c:v>
                </c:pt>
                <c:pt idx="4">
                  <c:v>Self-emp-inc</c:v>
                </c:pt>
                <c:pt idx="5">
                  <c:v>Federal-gov</c:v>
                </c:pt>
                <c:pt idx="6">
                  <c:v>Without-pay</c:v>
                </c:pt>
                <c:pt idx="7">
                  <c:v>Never-worked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24510</c:v>
                </c:pt>
                <c:pt idx="1">
                  <c:v>2539</c:v>
                </c:pt>
                <c:pt idx="2">
                  <c:v>2093</c:v>
                </c:pt>
                <c:pt idx="3">
                  <c:v>1298</c:v>
                </c:pt>
                <c:pt idx="4">
                  <c:v>1116</c:v>
                </c:pt>
                <c:pt idx="5">
                  <c:v>960</c:v>
                </c:pt>
                <c:pt idx="6">
                  <c:v>14</c:v>
                </c:pt>
                <c:pt idx="7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07-404C-9737-6AB3882437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342E6F-5BB6-4F17-930C-90A573894728}" type="doc">
      <dgm:prSet loTypeId="urn:microsoft.com/office/officeart/2005/8/layout/hProcess9" loCatId="process" qsTypeId="urn:microsoft.com/office/officeart/2005/8/quickstyle/simple5" qsCatId="simple" csTypeId="urn:microsoft.com/office/officeart/2005/8/colors/colorful5" csCatId="colorful" phldr="1"/>
      <dgm:spPr/>
    </dgm:pt>
    <dgm:pt modelId="{5E64DB20-CFE9-4E36-B58F-DC18B7523953}">
      <dgm:prSet phldrT="[Text]"/>
      <dgm:spPr/>
      <dgm:t>
        <a:bodyPr/>
        <a:lstStyle/>
        <a:p>
          <a:r>
            <a:rPr lang="en-US" dirty="0" smtClean="0"/>
            <a:t>Before cleaning: 32,561 rows</a:t>
          </a:r>
          <a:endParaRPr lang="en-US" dirty="0"/>
        </a:p>
      </dgm:t>
    </dgm:pt>
    <dgm:pt modelId="{B747BD07-0E0F-44CA-B9DD-DAD3A1A010DE}" type="parTrans" cxnId="{A34C9434-FD8E-4B56-A314-FB6CC4B992BC}">
      <dgm:prSet/>
      <dgm:spPr/>
      <dgm:t>
        <a:bodyPr/>
        <a:lstStyle/>
        <a:p>
          <a:endParaRPr lang="en-US"/>
        </a:p>
      </dgm:t>
    </dgm:pt>
    <dgm:pt modelId="{B2E62DA8-69AC-4E82-9B23-68A8C88C5FC2}" type="sibTrans" cxnId="{A34C9434-FD8E-4B56-A314-FB6CC4B992BC}">
      <dgm:prSet/>
      <dgm:spPr/>
      <dgm:t>
        <a:bodyPr/>
        <a:lstStyle/>
        <a:p>
          <a:endParaRPr lang="en-US"/>
        </a:p>
      </dgm:t>
    </dgm:pt>
    <dgm:pt modelId="{F1A17F94-501D-453E-8AAC-8A410B40AE36}">
      <dgm:prSet phldrT="[Text]"/>
      <dgm:spPr/>
      <dgm:t>
        <a:bodyPr/>
        <a:lstStyle/>
        <a:p>
          <a:r>
            <a:rPr lang="en-US" dirty="0" smtClean="0"/>
            <a:t>24 duplicate rows removed</a:t>
          </a:r>
          <a:endParaRPr lang="en-US" dirty="0"/>
        </a:p>
      </dgm:t>
    </dgm:pt>
    <dgm:pt modelId="{E471DF49-FA4C-4109-A612-00DE2BDF233B}" type="parTrans" cxnId="{57CE6D91-2DBD-49F7-9E33-9D4DE74F850C}">
      <dgm:prSet/>
      <dgm:spPr/>
      <dgm:t>
        <a:bodyPr/>
        <a:lstStyle/>
        <a:p>
          <a:endParaRPr lang="en-US"/>
        </a:p>
      </dgm:t>
    </dgm:pt>
    <dgm:pt modelId="{0C56B2D4-3BFE-46EE-AD68-1654A2F10BA3}" type="sibTrans" cxnId="{57CE6D91-2DBD-49F7-9E33-9D4DE74F850C}">
      <dgm:prSet/>
      <dgm:spPr/>
      <dgm:t>
        <a:bodyPr/>
        <a:lstStyle/>
        <a:p>
          <a:endParaRPr lang="en-US"/>
        </a:p>
      </dgm:t>
    </dgm:pt>
    <dgm:pt modelId="{6F5BA347-6B67-4760-8BE0-01BBAF66980D}">
      <dgm:prSet phldrT="[Text]"/>
      <dgm:spPr/>
      <dgm:t>
        <a:bodyPr/>
        <a:lstStyle/>
        <a:p>
          <a:r>
            <a:rPr lang="en-US" dirty="0" smtClean="0"/>
            <a:t>After Cleaning: 32,537rows</a:t>
          </a:r>
          <a:endParaRPr lang="en-US" dirty="0"/>
        </a:p>
      </dgm:t>
    </dgm:pt>
    <dgm:pt modelId="{FDC257B5-6946-44A7-B9C1-6C3C69803A28}" type="parTrans" cxnId="{A056CEF8-C19F-484F-BFAB-83C8AE67F2C0}">
      <dgm:prSet/>
      <dgm:spPr/>
      <dgm:t>
        <a:bodyPr/>
        <a:lstStyle/>
        <a:p>
          <a:endParaRPr lang="en-US"/>
        </a:p>
      </dgm:t>
    </dgm:pt>
    <dgm:pt modelId="{89352A4A-7C1B-4B2C-A7ED-019AFBFD4C5B}" type="sibTrans" cxnId="{A056CEF8-C19F-484F-BFAB-83C8AE67F2C0}">
      <dgm:prSet/>
      <dgm:spPr/>
      <dgm:t>
        <a:bodyPr/>
        <a:lstStyle/>
        <a:p>
          <a:endParaRPr lang="en-US"/>
        </a:p>
      </dgm:t>
    </dgm:pt>
    <dgm:pt modelId="{0568680C-F70D-4B2F-9B7A-179968B6B039}" type="pres">
      <dgm:prSet presAssocID="{B8342E6F-5BB6-4F17-930C-90A573894728}" presName="CompostProcess" presStyleCnt="0">
        <dgm:presLayoutVars>
          <dgm:dir/>
          <dgm:resizeHandles val="exact"/>
        </dgm:presLayoutVars>
      </dgm:prSet>
      <dgm:spPr/>
    </dgm:pt>
    <dgm:pt modelId="{9C43571D-852D-49E6-951F-4414B49A75CF}" type="pres">
      <dgm:prSet presAssocID="{B8342E6F-5BB6-4F17-930C-90A573894728}" presName="arrow" presStyleLbl="bgShp" presStyleIdx="0" presStyleCnt="1" custLinFactY="-10698" custLinFactNeighborX="-3319" custLinFactNeighborY="-100000"/>
      <dgm:spPr/>
    </dgm:pt>
    <dgm:pt modelId="{D052C44F-3DAB-4565-B786-B5B5A33C55D1}" type="pres">
      <dgm:prSet presAssocID="{B8342E6F-5BB6-4F17-930C-90A573894728}" presName="linearProcess" presStyleCnt="0"/>
      <dgm:spPr/>
    </dgm:pt>
    <dgm:pt modelId="{2503C6FD-CDCD-43D4-AACE-C190CFA6164C}" type="pres">
      <dgm:prSet presAssocID="{5E64DB20-CFE9-4E36-B58F-DC18B7523953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C42B10-6FCA-4485-8CC3-17DC6F85F7C9}" type="pres">
      <dgm:prSet presAssocID="{B2E62DA8-69AC-4E82-9B23-68A8C88C5FC2}" presName="sibTrans" presStyleCnt="0"/>
      <dgm:spPr/>
    </dgm:pt>
    <dgm:pt modelId="{36AACEE4-336D-4EF8-9B71-2FE2AF4C5A87}" type="pres">
      <dgm:prSet presAssocID="{F1A17F94-501D-453E-8AAC-8A410B40AE36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A4A682-F555-4FFD-A31B-4A6F30A3E3C9}" type="pres">
      <dgm:prSet presAssocID="{0C56B2D4-3BFE-46EE-AD68-1654A2F10BA3}" presName="sibTrans" presStyleCnt="0"/>
      <dgm:spPr/>
    </dgm:pt>
    <dgm:pt modelId="{4F37548F-9CBF-4F8E-9C71-1649EA0D8493}" type="pres">
      <dgm:prSet presAssocID="{6F5BA347-6B67-4760-8BE0-01BBAF66980D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521D93E-D459-44F8-9770-AADE94B13686}" type="presOf" srcId="{F1A17F94-501D-453E-8AAC-8A410B40AE36}" destId="{36AACEE4-336D-4EF8-9B71-2FE2AF4C5A87}" srcOrd="0" destOrd="0" presId="urn:microsoft.com/office/officeart/2005/8/layout/hProcess9"/>
    <dgm:cxn modelId="{DAED0DFC-2ABD-4EE7-BFD9-AE49F1CD13F7}" type="presOf" srcId="{5E64DB20-CFE9-4E36-B58F-DC18B7523953}" destId="{2503C6FD-CDCD-43D4-AACE-C190CFA6164C}" srcOrd="0" destOrd="0" presId="urn:microsoft.com/office/officeart/2005/8/layout/hProcess9"/>
    <dgm:cxn modelId="{A34C9434-FD8E-4B56-A314-FB6CC4B992BC}" srcId="{B8342E6F-5BB6-4F17-930C-90A573894728}" destId="{5E64DB20-CFE9-4E36-B58F-DC18B7523953}" srcOrd="0" destOrd="0" parTransId="{B747BD07-0E0F-44CA-B9DD-DAD3A1A010DE}" sibTransId="{B2E62DA8-69AC-4E82-9B23-68A8C88C5FC2}"/>
    <dgm:cxn modelId="{A056CEF8-C19F-484F-BFAB-83C8AE67F2C0}" srcId="{B8342E6F-5BB6-4F17-930C-90A573894728}" destId="{6F5BA347-6B67-4760-8BE0-01BBAF66980D}" srcOrd="2" destOrd="0" parTransId="{FDC257B5-6946-44A7-B9C1-6C3C69803A28}" sibTransId="{89352A4A-7C1B-4B2C-A7ED-019AFBFD4C5B}"/>
    <dgm:cxn modelId="{4DBAD4A7-1E91-48A4-8A1E-0E69859279AF}" type="presOf" srcId="{6F5BA347-6B67-4760-8BE0-01BBAF66980D}" destId="{4F37548F-9CBF-4F8E-9C71-1649EA0D8493}" srcOrd="0" destOrd="0" presId="urn:microsoft.com/office/officeart/2005/8/layout/hProcess9"/>
    <dgm:cxn modelId="{57CE6D91-2DBD-49F7-9E33-9D4DE74F850C}" srcId="{B8342E6F-5BB6-4F17-930C-90A573894728}" destId="{F1A17F94-501D-453E-8AAC-8A410B40AE36}" srcOrd="1" destOrd="0" parTransId="{E471DF49-FA4C-4109-A612-00DE2BDF233B}" sibTransId="{0C56B2D4-3BFE-46EE-AD68-1654A2F10BA3}"/>
    <dgm:cxn modelId="{12909B76-166F-4601-AC2C-0EEFC6D26C15}" type="presOf" srcId="{B8342E6F-5BB6-4F17-930C-90A573894728}" destId="{0568680C-F70D-4B2F-9B7A-179968B6B039}" srcOrd="0" destOrd="0" presId="urn:microsoft.com/office/officeart/2005/8/layout/hProcess9"/>
    <dgm:cxn modelId="{D473CC76-A087-4825-8AB7-BCEBE78A2636}" type="presParOf" srcId="{0568680C-F70D-4B2F-9B7A-179968B6B039}" destId="{9C43571D-852D-49E6-951F-4414B49A75CF}" srcOrd="0" destOrd="0" presId="urn:microsoft.com/office/officeart/2005/8/layout/hProcess9"/>
    <dgm:cxn modelId="{71C7748A-207B-40E1-BFF2-BBE4B34C03A2}" type="presParOf" srcId="{0568680C-F70D-4B2F-9B7A-179968B6B039}" destId="{D052C44F-3DAB-4565-B786-B5B5A33C55D1}" srcOrd="1" destOrd="0" presId="urn:microsoft.com/office/officeart/2005/8/layout/hProcess9"/>
    <dgm:cxn modelId="{C763EAEA-948A-41B3-9182-C1523F718947}" type="presParOf" srcId="{D052C44F-3DAB-4565-B786-B5B5A33C55D1}" destId="{2503C6FD-CDCD-43D4-AACE-C190CFA6164C}" srcOrd="0" destOrd="0" presId="urn:microsoft.com/office/officeart/2005/8/layout/hProcess9"/>
    <dgm:cxn modelId="{2EE6DB69-DE52-42EC-8D52-EF6D5CECA87A}" type="presParOf" srcId="{D052C44F-3DAB-4565-B786-B5B5A33C55D1}" destId="{D4C42B10-6FCA-4485-8CC3-17DC6F85F7C9}" srcOrd="1" destOrd="0" presId="urn:microsoft.com/office/officeart/2005/8/layout/hProcess9"/>
    <dgm:cxn modelId="{9BF5DCBF-AB5E-4B66-B58C-151CF2312193}" type="presParOf" srcId="{D052C44F-3DAB-4565-B786-B5B5A33C55D1}" destId="{36AACEE4-336D-4EF8-9B71-2FE2AF4C5A87}" srcOrd="2" destOrd="0" presId="urn:microsoft.com/office/officeart/2005/8/layout/hProcess9"/>
    <dgm:cxn modelId="{8B35E6CE-41DE-414C-B6D6-A1ACF7666E5B}" type="presParOf" srcId="{D052C44F-3DAB-4565-B786-B5B5A33C55D1}" destId="{47A4A682-F555-4FFD-A31B-4A6F30A3E3C9}" srcOrd="3" destOrd="0" presId="urn:microsoft.com/office/officeart/2005/8/layout/hProcess9"/>
    <dgm:cxn modelId="{710E154F-9BDD-4117-902B-4A2190CDFFF9}" type="presParOf" srcId="{D052C44F-3DAB-4565-B786-B5B5A33C55D1}" destId="{4F37548F-9CBF-4F8E-9C71-1649EA0D8493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3571D-852D-49E6-951F-4414B49A75CF}">
      <dsp:nvSpPr>
        <dsp:cNvPr id="0" name=""/>
        <dsp:cNvSpPr/>
      </dsp:nvSpPr>
      <dsp:spPr>
        <a:xfrm>
          <a:off x="351917" y="0"/>
          <a:ext cx="6393229" cy="936370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503C6FD-CDCD-43D4-AACE-C190CFA6164C}">
      <dsp:nvSpPr>
        <dsp:cNvPr id="0" name=""/>
        <dsp:cNvSpPr/>
      </dsp:nvSpPr>
      <dsp:spPr>
        <a:xfrm>
          <a:off x="8079" y="280910"/>
          <a:ext cx="2420965" cy="37454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Before cleaning: 32,561 rows</a:t>
          </a:r>
          <a:endParaRPr lang="en-US" sz="1500" kern="1200" dirty="0"/>
        </a:p>
      </dsp:txBody>
      <dsp:txXfrm>
        <a:off x="26363" y="299194"/>
        <a:ext cx="2384397" cy="337980"/>
      </dsp:txXfrm>
    </dsp:sp>
    <dsp:sp modelId="{36AACEE4-336D-4EF8-9B71-2FE2AF4C5A87}">
      <dsp:nvSpPr>
        <dsp:cNvPr id="0" name=""/>
        <dsp:cNvSpPr/>
      </dsp:nvSpPr>
      <dsp:spPr>
        <a:xfrm>
          <a:off x="2550240" y="280910"/>
          <a:ext cx="2420965" cy="374548"/>
        </a:xfrm>
        <a:prstGeom prst="roundRect">
          <a:avLst/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24 duplicate rows removed</a:t>
          </a:r>
          <a:endParaRPr lang="en-US" sz="1500" kern="1200" dirty="0"/>
        </a:p>
      </dsp:txBody>
      <dsp:txXfrm>
        <a:off x="2568524" y="299194"/>
        <a:ext cx="2384397" cy="337980"/>
      </dsp:txXfrm>
    </dsp:sp>
    <dsp:sp modelId="{4F37548F-9CBF-4F8E-9C71-1649EA0D8493}">
      <dsp:nvSpPr>
        <dsp:cNvPr id="0" name=""/>
        <dsp:cNvSpPr/>
      </dsp:nvSpPr>
      <dsp:spPr>
        <a:xfrm>
          <a:off x="5092401" y="280910"/>
          <a:ext cx="2420965" cy="374548"/>
        </a:xfrm>
        <a:prstGeom prst="round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After Cleaning: 32,537rows</a:t>
          </a:r>
          <a:endParaRPr lang="en-US" sz="1500" kern="1200" dirty="0"/>
        </a:p>
      </dsp:txBody>
      <dsp:txXfrm>
        <a:off x="5110685" y="299194"/>
        <a:ext cx="2384397" cy="337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09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9974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8429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917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0382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4031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3199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9031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33287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562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9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3861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671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06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6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-6-4.svg"/><Relationship Id="rId5" Type="http://schemas.openxmlformats.org/officeDocument/2006/relationships/image" Target="../media/image6.png"/><Relationship Id="rId10" Type="http://schemas.openxmlformats.org/officeDocument/2006/relationships/image" Target="../media/image-6-8.svg"/><Relationship Id="rId4" Type="http://schemas.openxmlformats.org/officeDocument/2006/relationships/image" Target="../media/image-6-2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995" y="515803"/>
            <a:ext cx="3368527" cy="40429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2846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Adult Census Income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8" y="2320491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Analytics </a:t>
            </a:r>
            <a:r>
              <a:rPr lang="en-US" sz="110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</a:t>
            </a:r>
            <a:endParaRPr lang="en-US" sz="1100" dirty="0"/>
          </a:p>
          <a:p>
            <a:pPr>
              <a:lnSpc>
                <a:spcPct val="133000"/>
              </a:lnSpc>
            </a:pP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 flipV="1">
            <a:off x="496119" y="3642454"/>
            <a:ext cx="882848" cy="306693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FFAD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1174" y="3725614"/>
            <a:ext cx="11699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COURSE: BCA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449809" y="3642454"/>
            <a:ext cx="1570732" cy="306693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FFAD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6600" y="3772194"/>
            <a:ext cx="185782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SUBJECT: DATA ANALYTICS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052" y="91139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67828" y="907808"/>
            <a:ext cx="4499113" cy="92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endParaRPr lang="en-US" sz="1050" dirty="0" smtClean="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171450" indent="-171450" algn="l">
              <a:lnSpc>
                <a:spcPct val="131000"/>
              </a:lnSpc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</a:t>
            </a: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variables include age, education, occupation, workclass, gender, working hours, capital </a:t>
            </a:r>
            <a:r>
              <a:rPr lang="en-US" sz="105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gain, capital loss</a:t>
            </a: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income</a:t>
            </a:r>
            <a:r>
              <a:rPr lang="en-US" sz="105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</a:p>
          <a:p>
            <a:pPr marL="171450" indent="-171450" algn="l">
              <a:lnSpc>
                <a:spcPct val="131000"/>
              </a:lnSpc>
              <a:buFont typeface="Arial" panose="020B0604020202020204" pitchFamily="34" charset="0"/>
              <a:buChar char="•"/>
            </a:pPr>
            <a:r>
              <a:rPr lang="en-US" sz="105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target variable classifies income as </a:t>
            </a:r>
            <a:r>
              <a:rPr lang="en-US" sz="105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&lt;=50K</a:t>
            </a: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 </a:t>
            </a:r>
            <a:r>
              <a:rPr lang="en-US" sz="105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&gt;50K</a:t>
            </a: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annually.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96119" y="2128391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32,561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496119" y="2749897"/>
            <a:ext cx="22782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Initial Rows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044205"/>
            <a:ext cx="227826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data cleaning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940621" y="2128391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32,537</a:t>
            </a:r>
            <a:endParaRPr lang="en-US" sz="3550" dirty="0"/>
          </a:p>
        </p:txBody>
      </p:sp>
      <p:sp>
        <p:nvSpPr>
          <p:cNvPr id="9" name="Text 6"/>
          <p:cNvSpPr/>
          <p:nvPr/>
        </p:nvSpPr>
        <p:spPr>
          <a:xfrm>
            <a:off x="2940621" y="2749897"/>
            <a:ext cx="22782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Final Rows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40621" y="3044205"/>
            <a:ext cx="227826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cleaning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718370" y="3595167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15</a:t>
            </a:r>
            <a:endParaRPr lang="en-US" sz="3550" dirty="0"/>
          </a:p>
        </p:txBody>
      </p:sp>
      <p:sp>
        <p:nvSpPr>
          <p:cNvPr id="12" name="Text 9"/>
          <p:cNvSpPr/>
          <p:nvPr/>
        </p:nvSpPr>
        <p:spPr>
          <a:xfrm>
            <a:off x="1718370" y="4216673"/>
            <a:ext cx="22782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718370" y="4510980"/>
            <a:ext cx="227826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Variables per record</a:t>
            </a:r>
            <a:endParaRPr lang="en-US" sz="1050" dirty="0"/>
          </a:p>
        </p:txBody>
      </p:sp>
      <p:sp>
        <p:nvSpPr>
          <p:cNvPr id="14" name="Rectangle 13"/>
          <p:cNvSpPr/>
          <p:nvPr/>
        </p:nvSpPr>
        <p:spPr>
          <a:xfrm>
            <a:off x="535293" y="478662"/>
            <a:ext cx="4942530" cy="6668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1000"/>
              </a:lnSpc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Adult Census Income dataset contains </a:t>
            </a:r>
            <a:r>
              <a:rPr lang="en-US" sz="105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 and </a:t>
            </a: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employment data for individuals</a:t>
            </a:r>
            <a:r>
              <a:rPr lang="en-US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2427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Business Problem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137720" y="2979241"/>
            <a:ext cx="4510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"To analyze the Adult Census Income dataset and identify patterns and factors associated with whether an individual earns &lt;=50K or &gt;50K annually."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98015" y="2830526"/>
            <a:ext cx="19050" cy="999381"/>
          </a:xfrm>
          <a:prstGeom prst="roundRect">
            <a:avLst>
              <a:gd name="adj" fmla="val 50000"/>
            </a:avLst>
          </a:prstGeom>
          <a:solidFill>
            <a:srgbClr val="FFAD94"/>
          </a:solidFill>
          <a:ln/>
        </p:spPr>
      </p:sp>
      <p:sp>
        <p:nvSpPr>
          <p:cNvPr id="7" name="Rectangle 6"/>
          <p:cNvSpPr/>
          <p:nvPr/>
        </p:nvSpPr>
        <p:spPr>
          <a:xfrm>
            <a:off x="4017065" y="1833086"/>
            <a:ext cx="453887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Income levels can vary depending on factors such as education, occupation, age, </a:t>
            </a:r>
            <a:r>
              <a:rPr lang="en-US" sz="1050" dirty="0" err="1"/>
              <a:t>workclass</a:t>
            </a:r>
            <a:r>
              <a:rPr lang="en-US" sz="1050" dirty="0"/>
              <a:t>, and working hours. Understanding these factors can help identify patterns in income levels and differences between people earning &lt;=50K and &gt;50K annually.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56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Objective &amp; Expected Outcome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42715"/>
            <a:ext cx="4107135" cy="2113657"/>
          </a:xfrm>
          <a:prstGeom prst="roundRect">
            <a:avLst>
              <a:gd name="adj" fmla="val 4829"/>
            </a:avLst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98447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Project Objectives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47689"/>
            <a:ext cx="3823618" cy="1559123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the Adult Census Income </a:t>
            </a:r>
            <a:r>
              <a:rPr lang="en-US" sz="1100" dirty="0" smtClean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income distribution across </a:t>
            </a:r>
            <a:r>
              <a:rPr lang="en-US" sz="1100" dirty="0" smtClean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Study the relationship between education and </a:t>
            </a:r>
            <a:r>
              <a:rPr lang="en-US" sz="1100" dirty="0" smtClean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</a:t>
            </a:r>
            <a:r>
              <a:rPr lang="en-US" sz="1100" dirty="0" smtClean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relationship of age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occupation, workclass, gender, and working </a:t>
            </a:r>
            <a:r>
              <a:rPr lang="en-US" sz="1100" dirty="0" smtClean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hours with income.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key patterns using </a:t>
            </a:r>
            <a:r>
              <a:rPr lang="en-US" sz="1100" dirty="0" smtClean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visualizations.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35826" y="1895724"/>
            <a:ext cx="3949148" cy="157634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Expected Outcome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73772" y="2205929"/>
            <a:ext cx="3605794" cy="1080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/>
              <a:t>To identify the key factors that are associated with income levels and understand the patterns between individuals earning &lt;=50K and &gt;50K annually. The analysis will provide clear insights through charts and visualizations.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518" y="133935"/>
            <a:ext cx="8151763" cy="145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Cleaning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05" y="258728"/>
            <a:ext cx="7330865" cy="2764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9387" y="2457348"/>
            <a:ext cx="1834102" cy="231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Verification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25888" y="1846350"/>
            <a:ext cx="1834102" cy="27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Duplicate Removal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5676" y="1160299"/>
            <a:ext cx="2163348" cy="45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Missing Value Handling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85703" y="50523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Raw Dataset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67518" y="2891763"/>
            <a:ext cx="8608963" cy="161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cleaning pipeline addressed missing values, duplicates, and data type verification to produce a reliable dataset for analysis.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8447" y="3203668"/>
            <a:ext cx="2613273" cy="653259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9525">
            <a:solidFill>
              <a:srgbClr val="E5BE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813" y="3226185"/>
            <a:ext cx="2452539" cy="12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6118" y="3407617"/>
            <a:ext cx="2532906" cy="41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Replaced "?" with NaN. Filled categorical columns using mode: workclass → </a:t>
            </a:r>
            <a:r>
              <a:rPr lang="en-US" sz="800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</a:t>
            </a: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occupation </a:t>
            </a:r>
            <a:r>
              <a:rPr lang="en-US" sz="80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800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Prof-specialty</a:t>
            </a: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native.country → </a:t>
            </a:r>
            <a:r>
              <a:rPr lang="en-US" sz="800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United-States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187377" y="3242259"/>
            <a:ext cx="2561206" cy="610950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9525">
            <a:solidFill>
              <a:srgbClr val="E5BE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65362" y="3279452"/>
            <a:ext cx="61752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Duplicate Removal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305546" y="3462005"/>
            <a:ext cx="2532906" cy="287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Found </a:t>
            </a:r>
            <a:r>
              <a:rPr lang="en-US" sz="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removed </a:t>
            </a:r>
            <a:r>
              <a:rPr lang="en-US" sz="9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24 duplicate rows</a:t>
            </a:r>
            <a:r>
              <a:rPr lang="en-US" sz="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</a:t>
            </a:r>
            <a:endParaRPr lang="en-US" sz="900" dirty="0" smtClean="0">
              <a:solidFill>
                <a:srgbClr val="403C4E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ensure </a:t>
            </a:r>
            <a:r>
              <a:rPr lang="en-US" sz="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record is unique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73874" y="3203668"/>
            <a:ext cx="2693640" cy="605979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9525">
            <a:solidFill>
              <a:srgbClr val="E5BE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6936" y="3281108"/>
            <a:ext cx="2532906" cy="16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34608" y="3435777"/>
            <a:ext cx="253290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Checked </a:t>
            </a: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types and used </a:t>
            </a:r>
            <a:r>
              <a:rPr lang="en-US" sz="800" dirty="0">
                <a:solidFill>
                  <a:srgbClr val="403C4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a </a:t>
            </a:r>
            <a:r>
              <a:rPr lang="en-US" sz="80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</a:t>
            </a: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summary of all columns</a:t>
            </a:r>
            <a:endParaRPr lang="en-US" sz="800" dirty="0"/>
          </a:p>
        </p:txBody>
      </p:sp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4009361699"/>
              </p:ext>
            </p:extLst>
          </p:nvPr>
        </p:nvGraphicFramePr>
        <p:xfrm>
          <a:off x="496117" y="4053073"/>
          <a:ext cx="7521447" cy="936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005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Exploratory Data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2655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EDA helps uncover patterns, distributions, and relationships within the cleaned dataset before drawing conclusions. Visualizations were used throughout to make findings easier to interpret.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2339653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2339653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Distribution Analysis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27658" y="2646164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Income, age, workclass, education, gender, and occupation distributions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60553" y="2339653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92092" y="2339653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Working Hours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92092" y="2646164"/>
            <a:ext cx="34557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Hours worked per week across the dataset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96119" y="3383310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7658" y="3383310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Education vs Income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27658" y="3689821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Relationship between education levels and income categories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660553" y="3383310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92092" y="3383310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Correlation &amp; Outliers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192092" y="3689821"/>
            <a:ext cx="34557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Correlation analysis and age outlier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1587" y="-84001"/>
            <a:ext cx="3174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8"/>
                </a:solidFill>
              </a:defRPr>
            </a:pPr>
            <a:r>
              <a:rPr lang="en-US" dirty="0"/>
              <a:t>Numerical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4568" y="429982"/>
            <a:ext cx="2734217" cy="3507810"/>
          </a:xfrm>
          <a:prstGeom prst="roundRect">
            <a:avLst/>
          </a:prstGeom>
          <a:solidFill>
            <a:srgbClr val="F1F5F9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048"/>
                </a:solidFill>
              </a:defRPr>
            </a:pP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155995" y="439219"/>
            <a:ext cx="2859611" cy="3507811"/>
          </a:xfrm>
          <a:prstGeom prst="roundRect">
            <a:avLst/>
          </a:prstGeom>
          <a:solidFill>
            <a:srgbClr val="F1F5F9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11803" y="429982"/>
            <a:ext cx="2360857" cy="3485982"/>
          </a:xfrm>
          <a:prstGeom prst="roundRect">
            <a:avLst/>
          </a:prstGeom>
          <a:solidFill>
            <a:srgbClr val="F1F5F9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15557" y="448203"/>
            <a:ext cx="1538242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3048"/>
                </a:solidFill>
              </a:defRPr>
            </a:pPr>
            <a:r>
              <a:rPr lang="en-US" dirty="0"/>
              <a:t>Age Box Plot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580" y="439219"/>
            <a:ext cx="185993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3048"/>
                </a:solidFill>
              </a:defRPr>
            </a:pPr>
            <a:r>
              <a:rPr lang="en-US" dirty="0"/>
              <a:t>Hours per Week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6174" y="448203"/>
            <a:ext cx="2391231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3048"/>
                </a:solidFill>
              </a:defRPr>
            </a:pPr>
            <a:r>
              <a:rPr lang="en-US" dirty="0"/>
              <a:t>Correlation </a:t>
            </a:r>
            <a:r>
              <a:rPr lang="en-US" dirty="0" err="1"/>
              <a:t>Heatmap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463" y="920438"/>
            <a:ext cx="2514130" cy="27808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451" y="904941"/>
            <a:ext cx="2171559" cy="238772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38" y="971831"/>
            <a:ext cx="2497676" cy="264505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52191" y="4034544"/>
            <a:ext cx="2563416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u="sng" dirty="0"/>
              <a:t>Observation: </a:t>
            </a:r>
            <a:r>
              <a:rPr lang="en-US" sz="1050" dirty="0"/>
              <a:t>The </a:t>
            </a:r>
            <a:r>
              <a:rPr lang="en-US" sz="1050" dirty="0" err="1"/>
              <a:t>heatmap</a:t>
            </a:r>
            <a:r>
              <a:rPr lang="en-US" sz="1050" dirty="0"/>
              <a:t> shows the relationships between numerical variables. Education level and hours worked have a positive relationship, while most other variables have relatively weak correlations.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6817" y="4051434"/>
            <a:ext cx="24118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u="sng" dirty="0"/>
              <a:t>Observation: </a:t>
            </a:r>
            <a:r>
              <a:rPr lang="en-US" sz="1050" dirty="0"/>
              <a:t>The median age is around 37 years. The box </a:t>
            </a:r>
            <a:r>
              <a:rPr lang="en-US" sz="1050" dirty="0" smtClean="0"/>
              <a:t>plot </a:t>
            </a:r>
            <a:r>
              <a:rPr lang="en-US" sz="1050" dirty="0"/>
              <a:t>also shows some higher-age values as outliers, </a:t>
            </a:r>
            <a:endParaRPr lang="en-US" sz="1050" dirty="0" smtClean="0"/>
          </a:p>
          <a:p>
            <a:r>
              <a:rPr lang="en-US" sz="1050" dirty="0" smtClean="0"/>
              <a:t>mainly </a:t>
            </a:r>
            <a:r>
              <a:rPr lang="en-US" sz="1050" dirty="0"/>
              <a:t>around 80–90 years.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580" y="3950019"/>
            <a:ext cx="265043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u="sng" dirty="0"/>
              <a:t>Observation: </a:t>
            </a:r>
            <a:r>
              <a:rPr lang="en-US" sz="1050" dirty="0"/>
              <a:t>Most individuals work around 40 hours per week. The distribution shows that 40 hours is the most common working time.</a:t>
            </a:r>
          </a:p>
        </p:txBody>
      </p:sp>
    </p:spTree>
    <p:extLst>
      <p:ext uri="{BB962C8B-B14F-4D97-AF65-F5344CB8AC3E}">
        <p14:creationId xmlns:p14="http://schemas.microsoft.com/office/powerpoint/2010/main" val="3842539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Income Distribution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individuals belong to the </a:t>
            </a:r>
            <a:r>
              <a:rPr lang="en-US" sz="11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&lt;=50K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income category, while a smaller proportion earns </a:t>
            </a:r>
            <a:r>
              <a:rPr lang="en-US" sz="11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&gt;50K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annually. 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907060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FD8C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126879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070027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Approximately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76%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individuals earn &lt;=50K, while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24%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earn &gt;50K.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237" y="14305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Age and Working Hours Analysis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96" y="1239378"/>
            <a:ext cx="3458817" cy="26965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4749700" y="99173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699" y="1239378"/>
            <a:ext cx="3902943" cy="1509564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Individuals range from </a:t>
            </a:r>
            <a:r>
              <a:rPr lang="en-US" sz="11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17 to 90 years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old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largest groups are in the </a:t>
            </a:r>
            <a:r>
              <a:rPr lang="en-US" sz="11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36–45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1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26–35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age brackets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people work around </a:t>
            </a:r>
            <a:r>
              <a:rPr lang="en-US" sz="11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40 hours per week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 distribution reflects a predominantly working-age population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699" y="2690191"/>
            <a:ext cx="3228147" cy="22859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473167"/>
              </p:ext>
            </p:extLst>
          </p:nvPr>
        </p:nvGraphicFramePr>
        <p:xfrm>
          <a:off x="722243" y="1364974"/>
          <a:ext cx="4936435" cy="325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/>
          <p:cNvSpPr/>
          <p:nvPr/>
        </p:nvSpPr>
        <p:spPr>
          <a:xfrm>
            <a:off x="513745" y="468088"/>
            <a:ext cx="36770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8"/>
                </a:solidFill>
              </a:defRPr>
            </a:pPr>
            <a:r>
              <a:rPr lang="en-US" dirty="0" err="1"/>
              <a:t>Workclass</a:t>
            </a:r>
            <a:r>
              <a:rPr lang="en-US" dirty="0"/>
              <a:t>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24939" y="1720655"/>
            <a:ext cx="2895600" cy="190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600">
                <a:solidFill>
                  <a:srgbClr val="232A32"/>
                </a:solidFill>
              </a:defRPr>
            </a:pPr>
            <a:r>
              <a:rPr lang="en-US" dirty="0"/>
              <a:t>Private is the largest </a:t>
            </a:r>
            <a:r>
              <a:rPr lang="en-US" dirty="0" err="1"/>
              <a:t>workclass</a:t>
            </a:r>
            <a:r>
              <a:rPr lang="en-US" dirty="0"/>
              <a:t>.</a:t>
            </a:r>
          </a:p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600">
                <a:solidFill>
                  <a:srgbClr val="232A32"/>
                </a:solidFill>
              </a:defRPr>
            </a:pPr>
            <a:r>
              <a:rPr lang="en-US" dirty="0"/>
              <a:t>Government </a:t>
            </a:r>
            <a:r>
              <a:rPr lang="en-US" dirty="0" err="1"/>
              <a:t>workclasses</a:t>
            </a:r>
            <a:r>
              <a:rPr lang="en-US" dirty="0"/>
              <a:t> have smaller counts.</a:t>
            </a:r>
          </a:p>
          <a:p>
            <a:pPr marL="285750" indent="-285750">
              <a:spcAft>
                <a:spcPts val="1300"/>
              </a:spcAft>
              <a:buFont typeface="Arial" panose="020B0604020202020204" pitchFamily="34" charset="0"/>
              <a:buChar char="•"/>
              <a:defRPr sz="1600">
                <a:solidFill>
                  <a:srgbClr val="232A32"/>
                </a:solidFill>
              </a:defRPr>
            </a:pPr>
            <a:r>
              <a:rPr lang="en-US" dirty="0"/>
              <a:t>Without-pay and Never-worked contain very few records.</a:t>
            </a:r>
          </a:p>
        </p:txBody>
      </p:sp>
    </p:spTree>
    <p:extLst>
      <p:ext uri="{BB962C8B-B14F-4D97-AF65-F5344CB8AC3E}">
        <p14:creationId xmlns:p14="http://schemas.microsoft.com/office/powerpoint/2010/main" val="830998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Education Distribution &amp; Income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736378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HS-grad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most common education level in the dataset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Some-college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1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Bachelors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also well-represented</a:t>
            </a:r>
            <a:endParaRPr lang="en-US" sz="1100" dirty="0"/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Higher </a:t>
            </a:r>
            <a:r>
              <a:rPr lang="en-US" sz="11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education levels generally have more individuals in the &gt;50K income category</a:t>
            </a:r>
            <a:r>
              <a:rPr lang="en-US" sz="11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Education level appears 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</a:t>
            </a:r>
            <a:r>
              <a:rPr lang="en-US" sz="110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 related </a:t>
            </a:r>
            <a:r>
              <a:rPr lang="en-US" sz="1100" dirty="0" smtClean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 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</a:t>
            </a:r>
            <a:endParaRPr lang="en-US" sz="11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8" y="1122759"/>
            <a:ext cx="4571999" cy="35552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8"/>
                </a:solidFill>
              </a:defRPr>
            </a:pPr>
            <a:r>
              <a:rPr dirty="0"/>
              <a:t>EDA Questions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2944" y="1362035"/>
            <a:ext cx="773849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Questions explored:</a:t>
            </a:r>
          </a:p>
          <a:p>
            <a:r>
              <a:rPr lang="en-US" sz="1200" b="1" dirty="0" smtClean="0"/>
              <a:t>1. What </a:t>
            </a:r>
            <a:r>
              <a:rPr lang="en-US" sz="1200" b="1" dirty="0"/>
              <a:t>is the income distribution?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→ Most individuals earn </a:t>
            </a:r>
            <a:r>
              <a:rPr lang="en-US" sz="1200" b="1" dirty="0"/>
              <a:t>&lt;=50K</a:t>
            </a:r>
            <a:r>
              <a:rPr lang="en-US" sz="1200" dirty="0"/>
              <a:t>, while a smaller group earns </a:t>
            </a:r>
            <a:r>
              <a:rPr lang="en-US" sz="1200" b="1" dirty="0"/>
              <a:t>&gt;50K</a:t>
            </a:r>
            <a:r>
              <a:rPr lang="en-US" sz="1200" dirty="0"/>
              <a:t>. </a:t>
            </a:r>
          </a:p>
          <a:p>
            <a:r>
              <a:rPr lang="en-US" sz="1200" b="1" dirty="0" smtClean="0"/>
              <a:t>2. Which </a:t>
            </a:r>
            <a:r>
              <a:rPr lang="en-US" sz="1200" b="1" dirty="0" err="1"/>
              <a:t>workclass</a:t>
            </a:r>
            <a:r>
              <a:rPr lang="en-US" sz="1200" b="1" dirty="0"/>
              <a:t> has the most individuals?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→ </a:t>
            </a:r>
            <a:r>
              <a:rPr lang="en-US" sz="1200" b="1" dirty="0"/>
              <a:t>Private</a:t>
            </a:r>
            <a:r>
              <a:rPr lang="en-US" sz="1200" dirty="0"/>
              <a:t> is the largest </a:t>
            </a:r>
            <a:r>
              <a:rPr lang="en-US" sz="1200" dirty="0" err="1"/>
              <a:t>workclass</a:t>
            </a:r>
            <a:r>
              <a:rPr lang="en-US" sz="1200" dirty="0"/>
              <a:t>. </a:t>
            </a:r>
          </a:p>
          <a:p>
            <a:r>
              <a:rPr lang="en-US" sz="1200" b="1" dirty="0" smtClean="0"/>
              <a:t>3. What </a:t>
            </a:r>
            <a:r>
              <a:rPr lang="en-US" sz="1200" b="1" dirty="0"/>
              <a:t>is the age distribution?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→ Individuals range from </a:t>
            </a:r>
            <a:r>
              <a:rPr lang="en-US" sz="1200" b="1" dirty="0"/>
              <a:t>17 to 90 years</a:t>
            </a:r>
            <a:r>
              <a:rPr lang="en-US" sz="1200" dirty="0"/>
              <a:t>, with most in the working-age groups. </a:t>
            </a:r>
          </a:p>
          <a:p>
            <a:r>
              <a:rPr lang="en-US" sz="1200" b="1" dirty="0" smtClean="0"/>
              <a:t>4. How </a:t>
            </a:r>
            <a:r>
              <a:rPr lang="en-US" sz="1200" b="1" dirty="0"/>
              <a:t>many hours do people usually work?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→ Around </a:t>
            </a:r>
            <a:r>
              <a:rPr lang="en-US" sz="1200" b="1" dirty="0"/>
              <a:t>40 hours per week</a:t>
            </a:r>
            <a:r>
              <a:rPr lang="en-US" sz="1200" dirty="0"/>
              <a:t> is the most common. </a:t>
            </a:r>
          </a:p>
          <a:p>
            <a:r>
              <a:rPr lang="en-US" sz="1200" b="1" dirty="0" smtClean="0"/>
              <a:t>5. Does </a:t>
            </a:r>
            <a:r>
              <a:rPr lang="en-US" sz="1200" b="1" dirty="0"/>
              <a:t>education relate to income?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→ The analysis shows that education level appears to be related to income, with higher education levels generally having more individuals in the </a:t>
            </a:r>
            <a:r>
              <a:rPr lang="en-US" sz="1200" b="1" dirty="0"/>
              <a:t>&gt;50K</a:t>
            </a:r>
            <a:r>
              <a:rPr lang="en-US" sz="1200" dirty="0"/>
              <a:t> category. </a:t>
            </a:r>
          </a:p>
          <a:p>
            <a:r>
              <a:rPr lang="en-US" sz="1200" b="1" dirty="0" smtClean="0"/>
              <a:t>6. Are </a:t>
            </a:r>
            <a:r>
              <a:rPr lang="en-US" sz="1200" b="1" dirty="0"/>
              <a:t>there unusual age </a:t>
            </a:r>
            <a:r>
              <a:rPr lang="en-US" sz="1200" b="1" dirty="0" smtClean="0"/>
              <a:t>values Why used nan?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→ The box plot shows some higher-age values around </a:t>
            </a:r>
            <a:r>
              <a:rPr lang="en-US" sz="1200" b="1" dirty="0"/>
              <a:t>80–90 years</a:t>
            </a:r>
            <a:r>
              <a:rPr lang="en-US" sz="1200" dirty="0"/>
              <a:t> as outliers</a:t>
            </a:r>
            <a:r>
              <a:rPr lang="en-US" sz="1200" dirty="0" smtClean="0"/>
              <a:t>.</a:t>
            </a:r>
          </a:p>
          <a:p>
            <a:r>
              <a:rPr lang="en-US" sz="1200" b="1" dirty="0" smtClean="0"/>
              <a:t>7. Why did you replace ‘?’ with </a:t>
            </a:r>
            <a:r>
              <a:rPr lang="en-US" sz="1200" b="1" dirty="0" err="1" smtClean="0"/>
              <a:t>NaN</a:t>
            </a:r>
            <a:r>
              <a:rPr lang="en-US" sz="1200" b="1" dirty="0"/>
              <a:t> </a:t>
            </a:r>
            <a:r>
              <a:rPr lang="en-US" sz="1200" b="1" dirty="0" smtClean="0"/>
              <a:t>?</a:t>
            </a:r>
          </a:p>
          <a:p>
            <a:r>
              <a:rPr lang="en-US" sz="1200" dirty="0" smtClean="0"/>
              <a:t>→</a:t>
            </a:r>
            <a:r>
              <a:rPr lang="en-US" sz="1200" b="1" dirty="0" smtClean="0"/>
              <a:t>. </a:t>
            </a:r>
            <a:r>
              <a:rPr lang="en-US" sz="1200" b="1" dirty="0">
                <a:latin typeface="+mj-lt"/>
              </a:rPr>
              <a:t>‘?’ was used to represent missing </a:t>
            </a:r>
            <a:r>
              <a:rPr lang="en-US" sz="1200" b="1" dirty="0" smtClean="0">
                <a:latin typeface="+mj-lt"/>
              </a:rPr>
              <a:t>values. I replaced </a:t>
            </a:r>
            <a:r>
              <a:rPr lang="en-US" sz="1200" b="1" dirty="0" err="1" smtClean="0">
                <a:latin typeface="+mj-lt"/>
              </a:rPr>
              <a:t>NaN</a:t>
            </a:r>
            <a:r>
              <a:rPr lang="en-US" sz="1200" b="1" dirty="0" smtClean="0">
                <a:latin typeface="+mj-lt"/>
              </a:rPr>
              <a:t>  so pandas could identify and handle those missing values properly.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1F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8"/>
                </a:solidFill>
              </a:defRPr>
            </a:pPr>
            <a:r>
              <a:t>Suggestions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7491" y="1208053"/>
            <a:ext cx="7254467" cy="262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Based on the analysis, the following suggestions can be made: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Focus on education:</a:t>
            </a:r>
            <a:r>
              <a:rPr lang="en-US" sz="1400" dirty="0"/>
              <a:t> Higher education appears to be associated with higher income, so skill development and higher education may improve earning opportunities.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Improve job skills:</a:t>
            </a:r>
            <a:r>
              <a:rPr lang="en-US" sz="1400" dirty="0"/>
              <a:t> Professional and technical skills can help individuals access better-paying occupations.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Career planning:</a:t>
            </a:r>
            <a:r>
              <a:rPr lang="en-US" sz="1400" dirty="0"/>
              <a:t> Students and job seekers can consider occupations and education paths associated with higher income levels.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Use data for workforce planning:</a:t>
            </a:r>
            <a:r>
              <a:rPr lang="en-US" sz="1400" dirty="0"/>
              <a:t> Organizations can use demographic and employment data to understand income patterns.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Further analysis:</a:t>
            </a:r>
            <a:r>
              <a:rPr lang="en-US" sz="1400" dirty="0"/>
              <a:t> Future analysis can examine income using additional factors such as occupation, age, </a:t>
            </a:r>
            <a:r>
              <a:rPr lang="en-US" sz="1400" dirty="0" err="1"/>
              <a:t>workclass</a:t>
            </a:r>
            <a:r>
              <a:rPr lang="en-US" sz="1400" dirty="0"/>
              <a:t>, gender and working hours together.</a:t>
            </a:r>
          </a:p>
          <a:p>
            <a:pPr>
              <a:spcAft>
                <a:spcPts val="1400"/>
              </a:spcAft>
              <a:defRPr sz="2000">
                <a:solidFill>
                  <a:srgbClr val="232A32"/>
                </a:solidFill>
              </a:defRPr>
            </a:pPr>
            <a:endParaRPr sz="1050" dirty="0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1F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191" y="1205895"/>
            <a:ext cx="73472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Adult Census Income dataset was successfully cleaned and analyzed.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24 duplicate rows</a:t>
            </a:r>
            <a:r>
              <a:rPr lang="en-US" dirty="0"/>
              <a:t> were removed and missing values were handled.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EDA and visualizations helped identify important income-related patterns.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individuals belong to the </a:t>
            </a:r>
            <a:r>
              <a:rPr lang="en-US" b="1" dirty="0"/>
              <a:t>&lt;=50K</a:t>
            </a:r>
            <a:r>
              <a:rPr lang="en-US" dirty="0"/>
              <a:t> income category.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Private</a:t>
            </a:r>
            <a:r>
              <a:rPr lang="en-US" dirty="0"/>
              <a:t> is the largest </a:t>
            </a:r>
            <a:r>
              <a:rPr lang="en-US" dirty="0" err="1"/>
              <a:t>workclass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Education level appears to be related to income. </a:t>
            </a:r>
          </a:p>
          <a:p>
            <a:r>
              <a:rPr lang="en-US" dirty="0" smtClean="0"/>
              <a:t>           </a:t>
            </a:r>
          </a:p>
          <a:p>
            <a:r>
              <a:rPr lang="en-US" dirty="0"/>
              <a:t> </a:t>
            </a:r>
            <a:r>
              <a:rPr lang="en-US" dirty="0" smtClean="0"/>
              <a:t>          Overall</a:t>
            </a:r>
            <a:r>
              <a:rPr lang="en-US" dirty="0"/>
              <a:t>, the project demonstrates how data cleaning, EDA and </a:t>
            </a:r>
            <a:r>
              <a:rPr lang="en-US" dirty="0" smtClean="0"/>
              <a:t>  visualization </a:t>
            </a:r>
            <a:r>
              <a:rPr lang="en-US" dirty="0"/>
              <a:t>can be used to understand income patterns.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1F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7" name="Curved Right Arrow 6"/>
          <p:cNvSpPr/>
          <p:nvPr/>
        </p:nvSpPr>
        <p:spPr>
          <a:xfrm>
            <a:off x="500190" y="2914820"/>
            <a:ext cx="537039" cy="49132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882</Words>
  <Application>Microsoft Office PowerPoint</Application>
  <PresentationFormat>On-screen Show (16:9)</PresentationFormat>
  <Paragraphs>125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Open Sans Bold</vt:lpstr>
      <vt:lpstr>Arial</vt:lpstr>
      <vt:lpstr>Merriweather Bold</vt:lpstr>
      <vt:lpstr>Open Sans</vt:lpstr>
      <vt:lpstr>Calibri Light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Hp</cp:lastModifiedBy>
  <cp:revision>15</cp:revision>
  <dcterms:created xsi:type="dcterms:W3CDTF">2026-08-13T08:30:03Z</dcterms:created>
  <dcterms:modified xsi:type="dcterms:W3CDTF">2026-09-16T16:56:28Z</dcterms:modified>
</cp:coreProperties>
</file>